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6"/>
  </p:notesMasterIdLst>
  <p:sldIdLst>
    <p:sldId id="256" r:id="rId3"/>
    <p:sldId id="571" r:id="rId4"/>
    <p:sldId id="572" r:id="rId5"/>
    <p:sldId id="573" r:id="rId6"/>
    <p:sldId id="574" r:id="rId7"/>
    <p:sldId id="580" r:id="rId8"/>
    <p:sldId id="575" r:id="rId9"/>
    <p:sldId id="576" r:id="rId10"/>
    <p:sldId id="581" r:id="rId11"/>
    <p:sldId id="577" r:id="rId12"/>
    <p:sldId id="579" r:id="rId13"/>
    <p:sldId id="578" r:id="rId14"/>
    <p:sldId id="536" r:id="rId15"/>
  </p:sldIdLst>
  <p:sldSz cx="12192000" cy="6858000"/>
  <p:notesSz cx="6858000" cy="914400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p:cViewPr varScale="1">
        <p:scale>
          <a:sx n="79" d="100"/>
          <a:sy n="79" d="100"/>
        </p:scale>
        <p:origin x="744" y="7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22-02-2026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13</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22-02-2026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2/22/2026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22/02/2026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6" Type="http://schemas.openxmlformats.org/officeDocument/2006/relationships/image" Target="../media/image3.jpeg"/><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hyperlink" Target="https://docs.streamlit.io/"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17378" y="1449421"/>
            <a:ext cx="5228584" cy="2178996"/>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5400" dirty="0"/>
              <a:t>Student Stress Prediction Dashboard</a:t>
            </a:r>
            <a:endParaRPr lang="en-US" sz="5100" b="1" kern="1200" dirty="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a:t>
            </a:r>
            <a:r>
              <a:rPr lang="en-IN" sz="1600" b="1" dirty="0"/>
              <a:t>SOHAM TRIPATHI</a:t>
            </a:r>
            <a:endParaRPr lang="en-US" sz="1600" b="1" cap="all" dirty="0"/>
          </a:p>
          <a:p>
            <a:pPr algn="l">
              <a:spcAft>
                <a:spcPts val="600"/>
              </a:spcAft>
            </a:pPr>
            <a:r>
              <a:rPr lang="en-US" sz="1600" b="1" cap="all" dirty="0"/>
              <a:t>College Name: </a:t>
            </a:r>
            <a:r>
              <a:rPr lang="en-US" sz="1600" b="1" cap="all" dirty="0" err="1"/>
              <a:t>Galgotias</a:t>
            </a:r>
            <a:r>
              <a:rPr lang="en-US" sz="1600" b="1" cap="all" dirty="0"/>
              <a:t> College of engineering and technology</a:t>
            </a:r>
          </a:p>
          <a:p>
            <a:pPr algn="l">
              <a:spcAft>
                <a:spcPts val="600"/>
              </a:spcAft>
            </a:pPr>
            <a:r>
              <a:rPr lang="en-US" sz="1600" b="1" cap="all" dirty="0"/>
              <a:t>Department: </a:t>
            </a:r>
            <a:r>
              <a:rPr lang="en-IN" sz="1600" b="1" dirty="0"/>
              <a:t>CSE (AIML)</a:t>
            </a:r>
            <a:endParaRPr lang="en-US" sz="1600" b="1" cap="all" dirty="0"/>
          </a:p>
          <a:p>
            <a:pPr algn="l">
              <a:spcAft>
                <a:spcPts val="600"/>
              </a:spcAft>
            </a:pPr>
            <a:r>
              <a:rPr lang="en-US" sz="1600" b="1" cap="all" dirty="0"/>
              <a:t>Email ID: sohamtripathi60@gmail.com</a:t>
            </a: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a:extLst>
              <a:ext uri="{FF2B5EF4-FFF2-40B4-BE49-F238E27FC236}">
                <a16:creationId xmlns:a16="http://schemas.microsoft.com/office/drawing/2014/main" id="{B4288F3F-AD4C-81EA-1336-D2C00EFCC479}"/>
              </a:ext>
            </a:extLst>
          </p:cNvPr>
          <p:cNvPicPr>
            <a:picLocks noChangeAspect="1"/>
          </p:cNvPicPr>
          <p:nvPr/>
        </p:nvPicPr>
        <p:blipFill>
          <a:blip r:embed="rId5"/>
          <a:stretch>
            <a:fillRect/>
          </a:stretch>
        </p:blipFill>
        <p:spPr>
          <a:xfrm>
            <a:off x="6409990" y="963029"/>
            <a:ext cx="4590784" cy="4936489"/>
          </a:xfrm>
          <a:prstGeom prst="rect">
            <a:avLst/>
          </a:prstGeom>
        </p:spPr>
      </p:pic>
      <p:pic>
        <p:nvPicPr>
          <p:cNvPr id="6" name="Picture 5">
            <a:extLst>
              <a:ext uri="{FF2B5EF4-FFF2-40B4-BE49-F238E27FC236}">
                <a16:creationId xmlns:a16="http://schemas.microsoft.com/office/drawing/2014/main" id="{0007E264-F317-80C8-AAC6-09BEC7E1128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73912" y="897212"/>
            <a:ext cx="5062939" cy="5062939"/>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a:t>
            </a:r>
            <a:endParaRPr lang="en-US" sz="2200" dirty="0">
              <a:latin typeface="Arial"/>
              <a:cs typeface="Arial"/>
            </a:endParaRPr>
          </a:p>
          <a:p>
            <a:pPr marL="305435" indent="-305435">
              <a:spcBef>
                <a:spcPct val="20000"/>
              </a:spcBef>
              <a:spcAft>
                <a:spcPts val="600"/>
              </a:spcAft>
            </a:pPr>
            <a:r>
              <a:rPr lang="en-US" sz="2200" b="1" dirty="0">
                <a:latin typeface="Arial"/>
                <a:cs typeface="Arial"/>
              </a:rPr>
              <a:t>Proposed 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a:t>
            </a:r>
          </a:p>
          <a:p>
            <a:pPr marL="305435" indent="-305435">
              <a:spcBef>
                <a:spcPct val="20000"/>
              </a:spcBef>
              <a:spcAft>
                <a:spcPts val="600"/>
              </a:spcAft>
            </a:pPr>
            <a:r>
              <a:rPr lang="en-US" sz="2200" b="1" dirty="0">
                <a:latin typeface="Arial"/>
                <a:cs typeface="Arial"/>
              </a:rPr>
              <a:t>Technology Stack</a:t>
            </a:r>
            <a:endParaRPr lang="en-US" sz="2200" dirty="0">
              <a:latin typeface="Arial"/>
              <a:cs typeface="Arial"/>
            </a:endParaRPr>
          </a:p>
          <a:p>
            <a:pPr marL="305435" indent="-305435">
              <a:spcBef>
                <a:spcPct val="20000"/>
              </a:spcBef>
              <a:spcAft>
                <a:spcPts val="600"/>
              </a:spcAft>
            </a:pPr>
            <a:r>
              <a:rPr lang="en-US" sz="2200" b="1" dirty="0">
                <a:latin typeface="Arial"/>
                <a:cs typeface="Arial"/>
              </a:rPr>
              <a:t>Algorithm &amp; Deployment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 (Output Image)</a:t>
            </a:r>
            <a:endParaRPr lang="en-US" sz="2200" dirty="0">
              <a:latin typeface="Arial"/>
              <a:cs typeface="Arial"/>
            </a:endParaRP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endParaRPr lang="en-GB" sz="22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Statement:</a:t>
            </a:r>
            <a:endParaRPr lang="en-US" sz="400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sz="2200" b="1" dirty="0">
                <a:latin typeface="Franklin Gothic Book" panose="020B0503020102020204" pitchFamily="34" charset="0"/>
              </a:rPr>
              <a:t>Students today face increasing academic pressure, performance expectations, and lifestyle imbalances that contribute to rising stress levels. Factors such as study hours, sleep patterns, social media usage, and academic workload significantly influence mental well-being.</a:t>
            </a:r>
          </a:p>
          <a:p>
            <a:pPr marL="0" indent="0">
              <a:buNone/>
            </a:pPr>
            <a:r>
              <a:rPr lang="en-US" sz="2200" dirty="0">
                <a:latin typeface="Franklin Gothic Book" panose="020B0503020102020204" pitchFamily="34" charset="0"/>
              </a:rPr>
              <a:t>However, there is no structured, data-driven system to systematically analyze and monitor student stress levels. Stress often remains undetected until it impacts academic performance and overall health.</a:t>
            </a:r>
          </a:p>
          <a:p>
            <a:pPr marL="0" indent="0">
              <a:buNone/>
            </a:pPr>
            <a:r>
              <a:rPr lang="en-US" sz="2200" dirty="0">
                <a:latin typeface="Franklin Gothic Book" panose="020B0503020102020204" pitchFamily="34" charset="0"/>
              </a:rPr>
              <a:t>There is a need to study and understand stress patterns among students in a more systematic and analytical manner.</a:t>
            </a:r>
          </a:p>
          <a:p>
            <a:pPr marL="0" indent="0">
              <a:buNone/>
            </a:pPr>
            <a:endParaRPr lang="en-US" sz="2200" dirty="0"/>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5" y="1304306"/>
            <a:ext cx="10515600" cy="4251960"/>
          </a:xfrm>
        </p:spPr>
        <p:txBody>
          <a:bodyPr vert="horz" lIns="91440" tIns="45720" rIns="91440" bIns="45720" rtlCol="0" anchor="t">
            <a:noAutofit/>
          </a:bodyPr>
          <a:lstStyle/>
          <a:p>
            <a:pPr marL="305435" indent="-305435">
              <a:spcBef>
                <a:spcPct val="20000"/>
              </a:spcBef>
              <a:spcAft>
                <a:spcPts val="600"/>
              </a:spcAft>
              <a:buFont typeface="Arial"/>
              <a:buChar char="•"/>
            </a:pPr>
            <a:r>
              <a:rPr lang="en-US" sz="1200" b="1" dirty="0"/>
              <a:t>The proposed solution is a data-driven Machine Learning system designed to analyze student-related factors and predict stress levels in an efficient and structured manner. </a:t>
            </a:r>
            <a:r>
              <a:rPr lang="en-IN" sz="1200" b="1" dirty="0">
                <a:latin typeface="Calibri"/>
                <a:ea typeface="Calibri"/>
                <a:cs typeface="Calibri"/>
              </a:rPr>
              <a:t>Data Collection: </a:t>
            </a:r>
          </a:p>
          <a:p>
            <a:pPr marL="305435" indent="-305435">
              <a:spcBef>
                <a:spcPct val="20000"/>
              </a:spcBef>
              <a:spcAft>
                <a:spcPts val="600"/>
              </a:spcAft>
              <a:buFont typeface="Arial"/>
              <a:buChar char="•"/>
            </a:pPr>
            <a:r>
              <a:rPr lang="en-IN" sz="1200" b="1" dirty="0">
                <a:latin typeface="Calibri"/>
                <a:ea typeface="Calibri"/>
                <a:cs typeface="Calibri"/>
              </a:rPr>
              <a:t>Data Collection: </a:t>
            </a:r>
          </a:p>
          <a:p>
            <a:pPr marL="305435" indent="-305435">
              <a:spcBef>
                <a:spcPct val="20000"/>
              </a:spcBef>
              <a:spcAft>
                <a:spcPts val="600"/>
              </a:spcAft>
              <a:buFont typeface="Arial"/>
              <a:buChar char="•"/>
            </a:pPr>
            <a:r>
              <a:rPr lang="en-US" sz="1200" b="1" dirty="0">
                <a:latin typeface="Calibri" panose="020F0502020204030204" pitchFamily="34" charset="0"/>
                <a:ea typeface="Calibri" panose="020F0502020204030204" pitchFamily="34" charset="0"/>
                <a:cs typeface="Calibri" panose="020F0502020204030204" pitchFamily="34" charset="0"/>
              </a:rPr>
              <a:t>Gather historical student-related data including: Study hours, Sleep duration, Attendance percentage, Academic performance, Social media usage, Family pressure level</a:t>
            </a:r>
          </a:p>
          <a:p>
            <a:pPr marL="629920" lvl="1" indent="-305435">
              <a:spcBef>
                <a:spcPct val="20000"/>
              </a:spcBef>
              <a:spcAft>
                <a:spcPts val="600"/>
              </a:spcAft>
              <a:buFont typeface="Arial"/>
              <a:buChar char="•"/>
            </a:pPr>
            <a:r>
              <a:rPr lang="en-US" sz="1200" b="1" dirty="0">
                <a:latin typeface="Calibri" panose="020F0502020204030204" pitchFamily="34" charset="0"/>
                <a:ea typeface="Calibri" panose="020F0502020204030204" pitchFamily="34" charset="0"/>
                <a:cs typeface="Calibri" panose="020F0502020204030204" pitchFamily="34" charset="0"/>
              </a:rPr>
              <a:t>Collect survey-based or institutional data for training the model</a:t>
            </a:r>
            <a:r>
              <a:rPr lang="en-IN" sz="1200" b="1" dirty="0">
                <a:latin typeface="Calibri"/>
                <a:ea typeface="Calibri"/>
                <a:cs typeface="Calibri"/>
              </a:rPr>
              <a:t>.</a:t>
            </a:r>
            <a:endParaRPr lang="en-IN" sz="1200" dirty="0">
              <a:latin typeface="Calibri"/>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Data Preprocessing:</a:t>
            </a:r>
            <a:endParaRPr lang="en-IN" sz="1200" dirty="0">
              <a:latin typeface="Calibri"/>
              <a:ea typeface="Calibri"/>
              <a:cs typeface="Calibri"/>
            </a:endParaRPr>
          </a:p>
          <a:p>
            <a:pPr marL="629920" lvl="1" indent="-305435">
              <a:spcBef>
                <a:spcPct val="20000"/>
              </a:spcBef>
              <a:spcAft>
                <a:spcPts val="600"/>
              </a:spcAft>
              <a:buFont typeface="Arial"/>
              <a:buChar char="•"/>
            </a:pPr>
            <a:r>
              <a:rPr lang="en-US" sz="1200" b="1" dirty="0">
                <a:latin typeface="Calibri"/>
                <a:ea typeface="Calibri"/>
                <a:cs typeface="Calibri"/>
              </a:rPr>
              <a:t>Clean the dataset by handling: Missing values, Outliers, Inconsistent entries</a:t>
            </a:r>
            <a:r>
              <a:rPr lang="en-IN" sz="1200" b="1" dirty="0">
                <a:latin typeface="Calibri"/>
                <a:ea typeface="Calibri"/>
                <a:cs typeface="Calibri"/>
              </a:rPr>
              <a:t>.</a:t>
            </a:r>
            <a:endParaRPr lang="en-IN" sz="1200" dirty="0">
              <a:latin typeface="Calibri"/>
              <a:ea typeface="Calibri"/>
              <a:cs typeface="Calibri"/>
            </a:endParaRPr>
          </a:p>
          <a:p>
            <a:pPr marL="629920" lvl="1" indent="-305435">
              <a:spcBef>
                <a:spcPct val="20000"/>
              </a:spcBef>
              <a:spcAft>
                <a:spcPts val="600"/>
              </a:spcAft>
              <a:buFont typeface="Arial"/>
              <a:buChar char="•"/>
            </a:pPr>
            <a:r>
              <a:rPr lang="en-US" sz="1200" b="1" dirty="0">
                <a:latin typeface="Calibri" panose="020F0502020204030204" pitchFamily="34" charset="0"/>
                <a:ea typeface="Calibri" panose="020F0502020204030204" pitchFamily="34" charset="0"/>
                <a:cs typeface="Calibri" panose="020F0502020204030204" pitchFamily="34" charset="0"/>
              </a:rPr>
              <a:t>Perform feature engineering to identify important stress-influencing factors</a:t>
            </a:r>
            <a:r>
              <a:rPr lang="en-IN" sz="1200" b="1" dirty="0">
                <a:latin typeface="Calibri"/>
                <a:ea typeface="Calibri"/>
                <a:cs typeface="Calibri"/>
              </a:rPr>
              <a:t>.</a:t>
            </a:r>
            <a:endParaRPr lang="en-IN" sz="1200" dirty="0">
              <a:latin typeface="Calibri"/>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Machine Learning Algorithm:</a:t>
            </a:r>
            <a:endParaRPr lang="en-IN" sz="1200" dirty="0">
              <a:latin typeface="Calibri"/>
              <a:ea typeface="Calibri"/>
              <a:cs typeface="Calibri"/>
            </a:endParaRPr>
          </a:p>
          <a:p>
            <a:pPr marL="629920" lvl="1" indent="-305435">
              <a:spcBef>
                <a:spcPct val="20000"/>
              </a:spcBef>
              <a:spcAft>
                <a:spcPts val="600"/>
              </a:spcAft>
              <a:buFont typeface="Arial"/>
              <a:buChar char="•"/>
            </a:pPr>
            <a:r>
              <a:rPr lang="en-US" sz="1200" b="1" dirty="0">
                <a:latin typeface="Calibri"/>
                <a:ea typeface="Calibri"/>
                <a:cs typeface="Calibri"/>
              </a:rPr>
              <a:t>Implement classification algorithms such as: Logistic Regression, Decision Tree, Random Forest</a:t>
            </a:r>
            <a:r>
              <a:rPr lang="en-IN" sz="1200" b="1" dirty="0">
                <a:latin typeface="Calibri"/>
                <a:ea typeface="Calibri"/>
                <a:cs typeface="Calibri"/>
              </a:rPr>
              <a:t>.</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Train the model using historical student data, Incorporate influential factors such as sleep patterns, academic load and social behaviour. </a:t>
            </a:r>
            <a:r>
              <a:rPr lang="en-US" sz="1200" b="1" dirty="0">
                <a:latin typeface="Calibri" panose="020F0502020204030204" pitchFamily="34" charset="0"/>
                <a:ea typeface="Calibri" panose="020F0502020204030204" pitchFamily="34" charset="0"/>
                <a:cs typeface="Calibri" panose="020F0502020204030204" pitchFamily="34" charset="0"/>
              </a:rPr>
              <a:t>Select the best-performing model based on evaluation metrics.</a:t>
            </a:r>
            <a:endParaRPr lang="en-IN" sz="1200" b="1" dirty="0">
              <a:latin typeface="Calibri" panose="020F0502020204030204" pitchFamily="34" charset="0"/>
              <a:ea typeface="Calibri" panose="020F0502020204030204" pitchFamily="34" charset="0"/>
              <a:cs typeface="Calibri" panose="020F0502020204030204" pitchFamily="34" charset="0"/>
            </a:endParaRPr>
          </a:p>
          <a:p>
            <a:pPr marL="305435" indent="-305435">
              <a:spcBef>
                <a:spcPct val="20000"/>
              </a:spcBef>
              <a:spcAft>
                <a:spcPts val="600"/>
              </a:spcAft>
              <a:buFont typeface="Arial"/>
              <a:buChar char="•"/>
            </a:pPr>
            <a:r>
              <a:rPr lang="en-IN" sz="1200" b="1" dirty="0">
                <a:latin typeface="Calibri"/>
                <a:ea typeface="Calibri"/>
                <a:cs typeface="Calibri"/>
              </a:rPr>
              <a:t>Deployment:</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Develop a user-friendly web interface(e.g., </a:t>
            </a:r>
            <a:r>
              <a:rPr lang="en-IN" sz="1200" b="1" dirty="0" err="1">
                <a:latin typeface="Calibri"/>
                <a:ea typeface="Calibri"/>
                <a:cs typeface="Calibri"/>
              </a:rPr>
              <a:t>Streamlit</a:t>
            </a:r>
            <a:r>
              <a:rPr lang="en-IN" sz="1200" b="1" dirty="0">
                <a:latin typeface="Calibri"/>
                <a:ea typeface="Calibri"/>
                <a:cs typeface="Calibri"/>
              </a:rPr>
              <a:t>). Allow user to input student details for real-time stress prediction.</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Deploy the solution on a scalable and reliable platform</a:t>
            </a:r>
            <a:r>
              <a:rPr lang="en-US" sz="1200" b="1" dirty="0">
                <a:latin typeface="Calibri"/>
                <a:ea typeface="Calibri"/>
                <a:cs typeface="Calibri"/>
              </a:rPr>
              <a:t>(e.g., local server or cloud environment)</a:t>
            </a:r>
            <a:r>
              <a:rPr lang="en-IN" sz="1200" b="1" dirty="0">
                <a:latin typeface="Calibri"/>
                <a:ea typeface="Calibri"/>
                <a:cs typeface="Calibri"/>
              </a:rPr>
              <a:t>. Ensure fast response time and accessibility.</a:t>
            </a:r>
            <a:endParaRPr lang="en-IN" sz="1200" dirty="0">
              <a:latin typeface="Calibri"/>
              <a:ea typeface="Calibri"/>
              <a:cs typeface="Calibri"/>
            </a:endParaRPr>
          </a:p>
          <a:p>
            <a:pPr marL="305435" indent="-305435">
              <a:spcBef>
                <a:spcPct val="20000"/>
              </a:spcBef>
              <a:spcAft>
                <a:spcPts val="600"/>
              </a:spcAft>
              <a:buFont typeface="Arial"/>
              <a:buChar char="•"/>
            </a:pPr>
            <a:r>
              <a:rPr lang="en-IN" sz="1200" b="1" dirty="0">
                <a:latin typeface="Calibri"/>
                <a:ea typeface="Calibri"/>
                <a:cs typeface="Calibri"/>
              </a:rPr>
              <a:t>Evaluation:</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b="1" dirty="0">
                <a:latin typeface="Calibri"/>
                <a:ea typeface="Calibri"/>
                <a:cs typeface="Calibri"/>
              </a:rPr>
              <a:t>Assess the model's performance using: Accuracy, Precision, Recall, F1-Score.</a:t>
            </a:r>
          </a:p>
          <a:p>
            <a:pPr marL="629920" lvl="1" indent="-305435">
              <a:spcBef>
                <a:spcPct val="20000"/>
              </a:spcBef>
              <a:spcAft>
                <a:spcPts val="600"/>
              </a:spcAft>
              <a:buFont typeface="Arial"/>
              <a:buChar char="•"/>
            </a:pPr>
            <a:r>
              <a:rPr lang="en-IN" sz="1200" b="1" dirty="0">
                <a:latin typeface="Calibri"/>
                <a:ea typeface="Calibri"/>
                <a:cs typeface="Calibri"/>
              </a:rPr>
              <a:t>Use confusion matrix for classification evaluation, Continuously monitor and improve the model for better prediction reliability.</a:t>
            </a:r>
            <a:endParaRPr lang="en-IN" sz="1200" dirty="0">
              <a:latin typeface="Calibri"/>
              <a:ea typeface="Calibri"/>
              <a:cs typeface="Calibri"/>
            </a:endParaRPr>
          </a:p>
          <a:p>
            <a:pPr marL="629920" lvl="1" indent="-305435">
              <a:spcBef>
                <a:spcPct val="20000"/>
              </a:spcBef>
              <a:spcAft>
                <a:spcPts val="600"/>
              </a:spcAft>
              <a:buFont typeface="Arial"/>
              <a:buChar char="•"/>
            </a:pPr>
            <a:r>
              <a:rPr lang="en-IN" sz="1200" dirty="0">
                <a:latin typeface="Franklin Gothic Book"/>
              </a:rPr>
              <a:t>Result:</a:t>
            </a:r>
            <a:endParaRPr lang="en-GB" sz="1200" dirty="0"/>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715586"/>
            <a:ext cx="10515600" cy="4251960"/>
          </a:xfrm>
        </p:spPr>
        <p:txBody>
          <a:bodyPr vert="horz" lIns="91440" tIns="45720" rIns="91440" bIns="45720" rtlCol="0">
            <a:normAutofit fontScale="92500" lnSpcReduction="10000"/>
          </a:bodyPr>
          <a:lstStyle/>
          <a:p>
            <a:pPr marL="0" indent="0">
              <a:spcBef>
                <a:spcPct val="20000"/>
              </a:spcBef>
              <a:spcAft>
                <a:spcPts val="600"/>
              </a:spcAft>
              <a:buNone/>
            </a:pPr>
            <a:r>
              <a:rPr lang="en-US" sz="2400" b="1" dirty="0">
                <a:latin typeface="Franklin Gothic Book" panose="020B0503020102020204" pitchFamily="34" charset="0"/>
              </a:rPr>
              <a:t>The system approach follows a complete machine learning pipeline starting from problem identification to deployment. We trained multiple models, evaluated them, and integrated the best-performing model into a web-based dashboard for real-time stress prediction</a:t>
            </a:r>
            <a:r>
              <a:rPr lang="en-IN" sz="2200" b="1" dirty="0">
                <a:latin typeface="Franklin Gothic Book"/>
              </a:rPr>
              <a:t>:</a:t>
            </a:r>
            <a:endParaRPr lang="en-US" sz="2200" dirty="0">
              <a:latin typeface="Franklin Gothic Book"/>
            </a:endParaRPr>
          </a:p>
          <a:p>
            <a:pPr marL="305435" indent="-305435">
              <a:spcBef>
                <a:spcPct val="20000"/>
              </a:spcBef>
              <a:spcAft>
                <a:spcPts val="600"/>
              </a:spcAft>
              <a:buFont typeface="Arial"/>
              <a:buChar char="•"/>
            </a:pPr>
            <a:r>
              <a:rPr lang="en-IN" sz="2400" b="1" dirty="0">
                <a:latin typeface="Franklin Gothic Book" panose="020B0503020102020204" pitchFamily="34" charset="0"/>
              </a:rPr>
              <a:t>Problem Understanding</a:t>
            </a:r>
            <a:endParaRPr lang="en-US" sz="2200" b="1" dirty="0">
              <a:latin typeface="Franklin Gothic Book" panose="020B0503020102020204" pitchFamily="34" charset="0"/>
            </a:endParaRPr>
          </a:p>
          <a:p>
            <a:pPr marL="305435" indent="-305435">
              <a:spcBef>
                <a:spcPct val="20000"/>
              </a:spcBef>
              <a:spcAft>
                <a:spcPts val="600"/>
              </a:spcAft>
              <a:buFont typeface="Arial"/>
              <a:buChar char="•"/>
            </a:pPr>
            <a:r>
              <a:rPr lang="en-IN" sz="2400" b="1" dirty="0">
                <a:latin typeface="Franklin Gothic Book" panose="020B0503020102020204" pitchFamily="34" charset="0"/>
              </a:rPr>
              <a:t>Data Acquisition</a:t>
            </a:r>
          </a:p>
          <a:p>
            <a:pPr marL="305435" indent="-305435">
              <a:spcBef>
                <a:spcPct val="20000"/>
              </a:spcBef>
              <a:spcAft>
                <a:spcPts val="600"/>
              </a:spcAft>
              <a:buFont typeface="Arial"/>
              <a:buChar char="•"/>
            </a:pPr>
            <a:r>
              <a:rPr lang="en-IN" sz="2400" b="1" dirty="0">
                <a:latin typeface="Franklin Gothic Book" panose="020B0503020102020204" pitchFamily="34" charset="0"/>
              </a:rPr>
              <a:t>Data Preparation</a:t>
            </a:r>
          </a:p>
          <a:p>
            <a:pPr marL="305435" indent="-305435">
              <a:spcBef>
                <a:spcPct val="20000"/>
              </a:spcBef>
              <a:spcAft>
                <a:spcPts val="600"/>
              </a:spcAft>
              <a:buFont typeface="Arial"/>
              <a:buChar char="•"/>
            </a:pPr>
            <a:r>
              <a:rPr lang="en-IN" sz="2400" b="1" dirty="0">
                <a:latin typeface="Franklin Gothic Book" panose="020B0503020102020204" pitchFamily="34" charset="0"/>
              </a:rPr>
              <a:t>Model Development</a:t>
            </a:r>
          </a:p>
          <a:p>
            <a:pPr marL="305435" indent="-305435">
              <a:spcBef>
                <a:spcPct val="20000"/>
              </a:spcBef>
              <a:spcAft>
                <a:spcPts val="600"/>
              </a:spcAft>
              <a:buFont typeface="Arial"/>
              <a:buChar char="•"/>
            </a:pPr>
            <a:r>
              <a:rPr lang="en-IN" sz="2400" b="1" dirty="0">
                <a:latin typeface="Franklin Gothic Book" panose="020B0503020102020204" pitchFamily="34" charset="0"/>
              </a:rPr>
              <a:t>Model Evaluation</a:t>
            </a:r>
          </a:p>
          <a:p>
            <a:pPr marL="305435" indent="-305435">
              <a:spcBef>
                <a:spcPct val="20000"/>
              </a:spcBef>
              <a:spcAft>
                <a:spcPts val="600"/>
              </a:spcAft>
              <a:buFont typeface="Arial"/>
              <a:buChar char="•"/>
            </a:pPr>
            <a:r>
              <a:rPr lang="en-IN" sz="2400" b="1" dirty="0">
                <a:latin typeface="Franklin Gothic Book" panose="020B0503020102020204" pitchFamily="34" charset="0"/>
              </a:rPr>
              <a:t>System Integration</a:t>
            </a:r>
          </a:p>
          <a:p>
            <a:pPr marL="305435" indent="-305435">
              <a:spcBef>
                <a:spcPct val="20000"/>
              </a:spcBef>
              <a:spcAft>
                <a:spcPts val="600"/>
              </a:spcAft>
              <a:buFont typeface="Arial"/>
              <a:buChar char="•"/>
            </a:pPr>
            <a:r>
              <a:rPr lang="en-IN" sz="2400" b="1" dirty="0">
                <a:latin typeface="Franklin Gothic Book" panose="020B0503020102020204" pitchFamily="34" charset="0"/>
              </a:rPr>
              <a:t>Continuous Improvement</a:t>
            </a:r>
            <a:endParaRPr lang="en-GB" sz="2200" b="1" dirty="0">
              <a:latin typeface="Franklin Gothic Book" panose="020B0503020102020204" pitchFamily="34" charset="0"/>
            </a:endParaRPr>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4D134-9405-6596-C1AD-A931FE70E230}"/>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BB94B137-C8E5-E7F0-46F7-33282C7B39B4}"/>
              </a:ext>
            </a:extLst>
          </p:cNvPr>
          <p:cNvSpPr>
            <a:spLocks noGrp="1"/>
          </p:cNvSpPr>
          <p:nvPr>
            <p:ph idx="1"/>
          </p:nvPr>
        </p:nvSpPr>
        <p:spPr/>
        <p:txBody>
          <a:bodyPr/>
          <a:lstStyle/>
          <a:p>
            <a:pPr marL="0" indent="0">
              <a:buNone/>
            </a:pPr>
            <a:endParaRPr lang="en-IN" dirty="0"/>
          </a:p>
        </p:txBody>
      </p:sp>
      <p:sp>
        <p:nvSpPr>
          <p:cNvPr id="4" name="TextBox 3">
            <a:extLst>
              <a:ext uri="{FF2B5EF4-FFF2-40B4-BE49-F238E27FC236}">
                <a16:creationId xmlns:a16="http://schemas.microsoft.com/office/drawing/2014/main" id="{9A5692D5-93D5-15B8-A883-9B0EC4736A20}"/>
              </a:ext>
            </a:extLst>
          </p:cNvPr>
          <p:cNvSpPr txBox="1"/>
          <p:nvPr/>
        </p:nvSpPr>
        <p:spPr>
          <a:xfrm>
            <a:off x="136187" y="642026"/>
            <a:ext cx="11215992" cy="707886"/>
          </a:xfrm>
          <a:prstGeom prst="rect">
            <a:avLst/>
          </a:prstGeom>
          <a:noFill/>
        </p:spPr>
        <p:txBody>
          <a:bodyPr wrap="square" rtlCol="0">
            <a:spAutoFit/>
          </a:bodyPr>
          <a:lstStyle/>
          <a:p>
            <a:r>
              <a:rPr lang="en-IN" sz="4000" b="1" dirty="0">
                <a:latin typeface="Arial" panose="020B0604020202020204" pitchFamily="34" charset="0"/>
                <a:cs typeface="Arial" panose="020B0604020202020204" pitchFamily="34" charset="0"/>
              </a:rPr>
              <a:t>Technology Stack</a:t>
            </a:r>
          </a:p>
        </p:txBody>
      </p:sp>
      <p:sp>
        <p:nvSpPr>
          <p:cNvPr id="5" name="TextBox 4">
            <a:extLst>
              <a:ext uri="{FF2B5EF4-FFF2-40B4-BE49-F238E27FC236}">
                <a16:creationId xmlns:a16="http://schemas.microsoft.com/office/drawing/2014/main" id="{9F9C3209-F2B7-9F4C-396A-A5D81124D43D}"/>
              </a:ext>
            </a:extLst>
          </p:cNvPr>
          <p:cNvSpPr txBox="1"/>
          <p:nvPr/>
        </p:nvSpPr>
        <p:spPr>
          <a:xfrm>
            <a:off x="350196" y="1349912"/>
            <a:ext cx="11215992" cy="3600986"/>
          </a:xfrm>
          <a:prstGeom prst="rect">
            <a:avLst/>
          </a:prstGeom>
          <a:noFill/>
        </p:spPr>
        <p:txBody>
          <a:bodyPr wrap="square" rtlCol="0">
            <a:spAutoFit/>
          </a:bodyPr>
          <a:lstStyle/>
          <a:p>
            <a:r>
              <a:rPr lang="en-US" sz="2400" b="1" dirty="0">
                <a:latin typeface="Franklin Gothic Book" panose="020B0503020102020204" pitchFamily="34" charset="0"/>
              </a:rPr>
              <a:t>The project is developed using Python. We used Pandas and NumPy for data processing, Scikit-learn for machine learning, Matplotlib and Seaborn for visualization, and </a:t>
            </a:r>
            <a:r>
              <a:rPr lang="en-US" sz="2400" b="1" dirty="0" err="1">
                <a:latin typeface="Franklin Gothic Book" panose="020B0503020102020204" pitchFamily="34" charset="0"/>
              </a:rPr>
              <a:t>Streamlit</a:t>
            </a:r>
            <a:r>
              <a:rPr lang="en-US" sz="2400" b="1" dirty="0">
                <a:latin typeface="Franklin Gothic Book" panose="020B0503020102020204" pitchFamily="34" charset="0"/>
              </a:rPr>
              <a:t> for deployment:</a:t>
            </a:r>
          </a:p>
          <a:p>
            <a:endParaRPr lang="en-US" sz="2400" dirty="0">
              <a:latin typeface="Franklin Gothic Book" panose="020B0503020102020204" pitchFamily="34" charset="0"/>
            </a:endParaRPr>
          </a:p>
          <a:p>
            <a:pPr marL="342900" indent="-342900">
              <a:buFont typeface="Arial" panose="020B0604020202020204" pitchFamily="34" charset="0"/>
              <a:buChar char="•"/>
            </a:pPr>
            <a:r>
              <a:rPr lang="en-IN" sz="2200" b="1" dirty="0">
                <a:latin typeface="Franklin Gothic Book" panose="020B0503020102020204" pitchFamily="34" charset="0"/>
              </a:rPr>
              <a:t>Python</a:t>
            </a:r>
            <a:r>
              <a:rPr lang="en-IN" sz="2200" dirty="0">
                <a:latin typeface="Franklin Gothic Book" panose="020B0503020102020204" pitchFamily="34" charset="0"/>
              </a:rPr>
              <a:t> – Core programming language</a:t>
            </a:r>
          </a:p>
          <a:p>
            <a:pPr marL="342900" indent="-342900">
              <a:buFont typeface="Arial" panose="020B0604020202020204" pitchFamily="34" charset="0"/>
              <a:buChar char="•"/>
            </a:pPr>
            <a:r>
              <a:rPr lang="en-US" sz="2200" b="1" dirty="0">
                <a:latin typeface="Franklin Gothic Book" panose="020B0503020102020204" pitchFamily="34" charset="0"/>
              </a:rPr>
              <a:t>Pandas &amp; NumPy</a:t>
            </a:r>
            <a:r>
              <a:rPr lang="en-US" sz="2200" dirty="0">
                <a:latin typeface="Franklin Gothic Book" panose="020B0503020102020204" pitchFamily="34" charset="0"/>
              </a:rPr>
              <a:t> – Data preprocessing and numerical operations</a:t>
            </a:r>
          </a:p>
          <a:p>
            <a:pPr marL="342900" indent="-342900">
              <a:buFont typeface="Arial" panose="020B0604020202020204" pitchFamily="34" charset="0"/>
              <a:buChar char="•"/>
            </a:pPr>
            <a:r>
              <a:rPr lang="en-US" sz="2200" b="1" dirty="0">
                <a:latin typeface="Franklin Gothic Book" panose="020B0503020102020204" pitchFamily="34" charset="0"/>
              </a:rPr>
              <a:t>Scikit-learn</a:t>
            </a:r>
            <a:r>
              <a:rPr lang="en-US" sz="2200" dirty="0">
                <a:latin typeface="Franklin Gothic Book" panose="020B0503020102020204" pitchFamily="34" charset="0"/>
              </a:rPr>
              <a:t> – Machine learning model development and evaluation</a:t>
            </a:r>
          </a:p>
          <a:p>
            <a:pPr marL="342900" indent="-342900">
              <a:buFont typeface="Arial" panose="020B0604020202020204" pitchFamily="34" charset="0"/>
              <a:buChar char="•"/>
            </a:pPr>
            <a:r>
              <a:rPr lang="en-IN" sz="2200" b="1" dirty="0">
                <a:latin typeface="Franklin Gothic Book" panose="020B0503020102020204" pitchFamily="34" charset="0"/>
              </a:rPr>
              <a:t>Matplotlib &amp; Seaborn</a:t>
            </a:r>
            <a:r>
              <a:rPr lang="en-IN" sz="2200" dirty="0">
                <a:latin typeface="Franklin Gothic Book" panose="020B0503020102020204" pitchFamily="34" charset="0"/>
              </a:rPr>
              <a:t> – Data visualization</a:t>
            </a:r>
          </a:p>
          <a:p>
            <a:pPr marL="342900" indent="-342900">
              <a:buFont typeface="Arial" panose="020B0604020202020204" pitchFamily="34" charset="0"/>
              <a:buChar char="•"/>
            </a:pPr>
            <a:r>
              <a:rPr lang="en-IN" sz="2200" b="1" dirty="0" err="1">
                <a:latin typeface="Franklin Gothic Book" panose="020B0503020102020204" pitchFamily="34" charset="0"/>
              </a:rPr>
              <a:t>Streamlit</a:t>
            </a:r>
            <a:r>
              <a:rPr lang="en-IN" sz="2200" dirty="0">
                <a:latin typeface="Franklin Gothic Book" panose="020B0503020102020204" pitchFamily="34" charset="0"/>
              </a:rPr>
              <a:t> – Web-based interactive dashboard</a:t>
            </a:r>
          </a:p>
          <a:p>
            <a:pPr marL="342900" indent="-342900">
              <a:buFont typeface="Arial" panose="020B0604020202020204" pitchFamily="34" charset="0"/>
              <a:buChar char="•"/>
            </a:pPr>
            <a:r>
              <a:rPr lang="en-US" sz="2200" b="1" dirty="0" err="1">
                <a:latin typeface="Franklin Gothic Book" panose="020B0503020102020204" pitchFamily="34" charset="0"/>
              </a:rPr>
              <a:t>Joblib</a:t>
            </a:r>
            <a:r>
              <a:rPr lang="en-US" sz="2200" b="1" dirty="0">
                <a:latin typeface="Franklin Gothic Book" panose="020B0503020102020204" pitchFamily="34" charset="0"/>
              </a:rPr>
              <a:t> / Pickle</a:t>
            </a:r>
            <a:r>
              <a:rPr lang="en-US" sz="2200" dirty="0">
                <a:latin typeface="Franklin Gothic Book" panose="020B0503020102020204" pitchFamily="34" charset="0"/>
              </a:rPr>
              <a:t> – Model saving and loading</a:t>
            </a:r>
            <a:endParaRPr lang="en-IN" sz="2200" dirty="0">
              <a:latin typeface="Franklin Gothic Book" panose="020B0503020102020204" pitchFamily="34" charset="0"/>
            </a:endParaRPr>
          </a:p>
        </p:txBody>
      </p:sp>
    </p:spTree>
    <p:extLst>
      <p:ext uri="{BB962C8B-B14F-4D97-AF65-F5344CB8AC3E}">
        <p14:creationId xmlns:p14="http://schemas.microsoft.com/office/powerpoint/2010/main" val="3719769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66700" y="1572196"/>
            <a:ext cx="10515600" cy="4251960"/>
          </a:xfrm>
        </p:spPr>
        <p:txBody>
          <a:bodyPr vert="horz" lIns="91440" tIns="45720" rIns="91440" bIns="45720" rtlCol="0">
            <a:normAutofit/>
          </a:bodyPr>
          <a:lstStyle/>
          <a:p>
            <a:r>
              <a:rPr lang="en-US" sz="1600" dirty="0">
                <a:latin typeface="Franklin Gothic Book" panose="020B0503020102020204" pitchFamily="34" charset="0"/>
              </a:rPr>
              <a:t>The selected algorithm for predicting student stress levels is the </a:t>
            </a:r>
            <a:r>
              <a:rPr lang="en-US" sz="1600" b="1" dirty="0">
                <a:latin typeface="Franklin Gothic Book" panose="020B0503020102020204" pitchFamily="34" charset="0"/>
              </a:rPr>
              <a:t>Random Forest Classifier</a:t>
            </a:r>
            <a:r>
              <a:rPr lang="en-IN" sz="1500" dirty="0">
                <a:latin typeface="Franklin Gothic Book"/>
              </a:rPr>
              <a:t>:</a:t>
            </a:r>
          </a:p>
          <a:p>
            <a:pPr marL="305435" indent="-305435">
              <a:spcBef>
                <a:spcPct val="20000"/>
              </a:spcBef>
              <a:spcAft>
                <a:spcPts val="600"/>
              </a:spcAft>
              <a:buFont typeface="Arial"/>
              <a:buChar char="•"/>
            </a:pPr>
            <a:endParaRPr lang="en-IN" sz="1500" b="1" dirty="0">
              <a:latin typeface="Franklin Gothic Book"/>
            </a:endParaRPr>
          </a:p>
          <a:p>
            <a:pPr marL="305435" indent="-305435">
              <a:spcBef>
                <a:spcPct val="20000"/>
              </a:spcBef>
              <a:spcAft>
                <a:spcPts val="600"/>
              </a:spcAft>
              <a:buFont typeface="Arial"/>
              <a:buChar char="•"/>
            </a:pPr>
            <a:r>
              <a:rPr lang="en-IN" sz="1500" b="1" dirty="0">
                <a:latin typeface="Franklin Gothic Book"/>
              </a:rPr>
              <a:t>Algorithm Selection:</a:t>
            </a:r>
            <a:endParaRPr lang="en-IN" sz="1500" dirty="0">
              <a:latin typeface="Franklin Gothic Book"/>
            </a:endParaRPr>
          </a:p>
          <a:p>
            <a:pPr marL="629920" lvl="1" indent="-305435">
              <a:spcBef>
                <a:spcPct val="20000"/>
              </a:spcBef>
              <a:spcAft>
                <a:spcPts val="600"/>
              </a:spcAft>
              <a:buFont typeface="Arial"/>
              <a:buChar char="•"/>
            </a:pPr>
            <a:r>
              <a:rPr lang="en-US" sz="1500" dirty="0">
                <a:latin typeface="Franklin Gothic Book" panose="020B0503020102020204" pitchFamily="34" charset="0"/>
              </a:rPr>
              <a:t>Random Forest is an ensemble learning method that builds multiple decision trees and combines their outputs using majority voting</a:t>
            </a:r>
            <a:r>
              <a:rPr lang="en-IN" sz="1500" dirty="0">
                <a:latin typeface="Franklin Gothic Book"/>
              </a:rPr>
              <a:t>.</a:t>
            </a:r>
          </a:p>
          <a:p>
            <a:pPr marL="305435" indent="-305435">
              <a:spcBef>
                <a:spcPct val="20000"/>
              </a:spcBef>
              <a:spcAft>
                <a:spcPts val="600"/>
              </a:spcAft>
              <a:buFont typeface="Arial"/>
              <a:buChar char="•"/>
            </a:pPr>
            <a:r>
              <a:rPr lang="en-IN" sz="1500" b="1" dirty="0">
                <a:latin typeface="Franklin Gothic Book"/>
              </a:rPr>
              <a:t>Data Input:</a:t>
            </a:r>
            <a:endParaRPr lang="en-IN" sz="1500" dirty="0">
              <a:latin typeface="Franklin Gothic Book"/>
            </a:endParaRPr>
          </a:p>
          <a:p>
            <a:pPr marL="629920" lvl="1" indent="-305435">
              <a:spcBef>
                <a:spcPct val="20000"/>
              </a:spcBef>
              <a:spcAft>
                <a:spcPts val="600"/>
              </a:spcAft>
              <a:buFont typeface="Arial"/>
              <a:buChar char="•"/>
            </a:pPr>
            <a:r>
              <a:rPr lang="en-IN" sz="1500" dirty="0">
                <a:latin typeface="Franklin Gothic Book"/>
              </a:rPr>
              <a:t>Specify the input features used by the algorithm, </a:t>
            </a:r>
            <a:r>
              <a:rPr lang="en-US" sz="1500" dirty="0">
                <a:latin typeface="Franklin Gothic Book"/>
              </a:rPr>
              <a:t>Study Hours per day, Sleep Hours, Attendance Percentage, Academic Performance (CGPA/Marks), Social Media Usage (hours/day), Family Pressure Level, Extracurricular Involvement</a:t>
            </a:r>
            <a:r>
              <a:rPr lang="en-IN" sz="1500" dirty="0">
                <a:latin typeface="Franklin Gothic Book"/>
              </a:rPr>
              <a:t>.</a:t>
            </a:r>
          </a:p>
          <a:p>
            <a:pPr marL="305435" indent="-305435">
              <a:spcBef>
                <a:spcPct val="20000"/>
              </a:spcBef>
              <a:spcAft>
                <a:spcPts val="600"/>
              </a:spcAft>
              <a:buFont typeface="Arial"/>
              <a:buChar char="•"/>
            </a:pPr>
            <a:r>
              <a:rPr lang="en-IN" sz="1500" b="1" dirty="0">
                <a:latin typeface="Franklin Gothic Book"/>
              </a:rPr>
              <a:t>Training Process:</a:t>
            </a:r>
            <a:endParaRPr lang="en-IN" sz="1500" dirty="0">
              <a:latin typeface="Franklin Gothic Book"/>
            </a:endParaRPr>
          </a:p>
          <a:p>
            <a:pPr marL="629920" lvl="1" indent="-305435">
              <a:spcBef>
                <a:spcPct val="20000"/>
              </a:spcBef>
              <a:spcAft>
                <a:spcPts val="600"/>
              </a:spcAft>
              <a:buFont typeface="Arial"/>
              <a:buChar char="•"/>
            </a:pPr>
            <a:r>
              <a:rPr lang="en-US" sz="1500" dirty="0">
                <a:latin typeface="Franklin Gothic Book" panose="020B0503020102020204" pitchFamily="34" charset="0"/>
              </a:rPr>
              <a:t>The model is trained on historical student data using an 80-20 split. We applied cross-validation to ensure generalization and used hyperparameter tuning to optimize performance. The final model was selected based on evaluation metrics</a:t>
            </a:r>
            <a:r>
              <a:rPr lang="en-IN" sz="1500" dirty="0">
                <a:latin typeface="Franklin Gothic Book"/>
              </a:rPr>
              <a:t>.</a:t>
            </a:r>
          </a:p>
          <a:p>
            <a:pPr marL="305435" indent="-305435">
              <a:spcBef>
                <a:spcPct val="20000"/>
              </a:spcBef>
              <a:spcAft>
                <a:spcPts val="600"/>
              </a:spcAft>
              <a:buFont typeface="Arial"/>
              <a:buChar char="•"/>
            </a:pPr>
            <a:r>
              <a:rPr lang="en-IN" sz="1500" b="1" dirty="0">
                <a:latin typeface="Franklin Gothic Book"/>
              </a:rPr>
              <a:t>Prediction Process:</a:t>
            </a:r>
            <a:endParaRPr lang="en-IN" sz="1500" dirty="0">
              <a:latin typeface="Franklin Gothic Book"/>
            </a:endParaRPr>
          </a:p>
          <a:p>
            <a:pPr marL="629920" lvl="1" indent="-305435">
              <a:spcBef>
                <a:spcPct val="20000"/>
              </a:spcBef>
              <a:spcAft>
                <a:spcPts val="600"/>
              </a:spcAft>
              <a:buFont typeface="Arial"/>
              <a:buChar char="•"/>
            </a:pPr>
            <a:r>
              <a:rPr lang="en-US" sz="1500" dirty="0">
                <a:latin typeface="Franklin Gothic Book" panose="020B0503020102020204" pitchFamily="34" charset="0"/>
              </a:rPr>
              <a:t>During prediction, real-time student inputs are collected through the dashboard. These inputs are preprocessed and passed to the trained Random Forest model. The model outputs a stress category using majority voting, and the result is displayed instantly to the user</a:t>
            </a:r>
            <a:r>
              <a:rPr lang="en-IN" sz="1500" dirty="0">
                <a:latin typeface="Franklin Gothic Book"/>
              </a:rPr>
              <a:t>.</a:t>
            </a:r>
            <a:endParaRPr lang="en-GB" sz="1500" dirty="0"/>
          </a:p>
        </p:txBody>
      </p:sp>
    </p:spTree>
    <p:extLst>
      <p:ext uri="{BB962C8B-B14F-4D97-AF65-F5344CB8AC3E}">
        <p14:creationId xmlns:p14="http://schemas.microsoft.com/office/powerpoint/2010/main" val="1199084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sp>
        <p:nvSpPr>
          <p:cNvPr id="3" name="Content Placeholder 2">
            <a:extLst>
              <a:ext uri="{FF2B5EF4-FFF2-40B4-BE49-F238E27FC236}">
                <a16:creationId xmlns:a16="http://schemas.microsoft.com/office/drawing/2014/main" id="{66102C9B-C4AF-D0DB-DE74-862D9812001C}"/>
              </a:ext>
            </a:extLst>
          </p:cNvPr>
          <p:cNvSpPr>
            <a:spLocks noGrp="1"/>
          </p:cNvSpPr>
          <p:nvPr>
            <p:ph idx="1"/>
          </p:nvPr>
        </p:nvSpPr>
        <p:spPr>
          <a:xfrm>
            <a:off x="272374" y="1274323"/>
            <a:ext cx="11663464" cy="5272391"/>
          </a:xfrm>
        </p:spPr>
        <p:txBody>
          <a:bodyPr vert="horz" lIns="91440" tIns="45720" rIns="91440" bIns="45720" rtlCol="0">
            <a:normAutofit fontScale="92500" lnSpcReduction="10000"/>
          </a:bodyPr>
          <a:lstStyle/>
          <a:p>
            <a:pPr marL="0" indent="0">
              <a:buNone/>
            </a:pPr>
            <a:r>
              <a:rPr lang="en-US" sz="2400" dirty="0">
                <a:latin typeface="Franklin Gothic Book" panose="020B0503020102020204" pitchFamily="34" charset="0"/>
              </a:rPr>
              <a:t>The model achieved nearly 89% accuracy and shows strong agreement between predicted and actual stress levels. The confusion matrix confirms reliable classification performance, particularly in detecting high-stress students. Feature importance analysis also validates that sleep and study hours significantly influence stress levels.</a:t>
            </a:r>
          </a:p>
          <a:p>
            <a:r>
              <a:rPr lang="en-US" sz="2400" dirty="0">
                <a:latin typeface="Franklin Gothic Book" panose="020B0503020102020204" pitchFamily="34" charset="0"/>
              </a:rPr>
              <a:t>The system reliably predicts stress levels with high accuracy.</a:t>
            </a:r>
          </a:p>
          <a:p>
            <a:r>
              <a:rPr lang="en-US" sz="2400" dirty="0">
                <a:latin typeface="Franklin Gothic Book" panose="020B0503020102020204" pitchFamily="34" charset="0"/>
              </a:rPr>
              <a:t>It effectively detects High stress cases, which are critical for early intervention.</a:t>
            </a:r>
          </a:p>
          <a:p>
            <a:r>
              <a:rPr lang="en-US" sz="2400" dirty="0">
                <a:latin typeface="Franklin Gothic Book" panose="020B0503020102020204" pitchFamily="34" charset="0"/>
              </a:rPr>
              <a:t>The dashboard provides real-time insights for better decision-making.</a:t>
            </a:r>
          </a:p>
          <a:p>
            <a:r>
              <a:rPr lang="en-US" sz="2400" dirty="0">
                <a:latin typeface="Franklin Gothic Book" panose="020B0503020102020204" pitchFamily="34" charset="0"/>
              </a:rPr>
              <a:t>The Random Forest classifier demonstrated strong performance in predicting student stress levels based on academic and lifestyle factors.</a:t>
            </a:r>
          </a:p>
          <a:p>
            <a:r>
              <a:rPr lang="en-IN" sz="2200" b="1" dirty="0">
                <a:latin typeface="Franklin Gothic Book" panose="020B0503020102020204" pitchFamily="34" charset="0"/>
              </a:rPr>
              <a:t>Accuracy:</a:t>
            </a:r>
            <a:r>
              <a:rPr lang="en-IN" sz="2200" dirty="0">
                <a:latin typeface="Franklin Gothic Book" panose="020B0503020102020204" pitchFamily="34" charset="0"/>
              </a:rPr>
              <a:t> 89%</a:t>
            </a:r>
          </a:p>
          <a:p>
            <a:r>
              <a:rPr lang="en-IN" sz="2200" b="1" dirty="0">
                <a:latin typeface="Franklin Gothic Book" panose="020B0503020102020204" pitchFamily="34" charset="0"/>
              </a:rPr>
              <a:t>Precision:</a:t>
            </a:r>
            <a:r>
              <a:rPr lang="en-IN" sz="2200" dirty="0">
                <a:latin typeface="Franklin Gothic Book" panose="020B0503020102020204" pitchFamily="34" charset="0"/>
              </a:rPr>
              <a:t> 0.87</a:t>
            </a:r>
          </a:p>
          <a:p>
            <a:r>
              <a:rPr lang="en-IN" sz="2200" b="1" dirty="0">
                <a:latin typeface="Franklin Gothic Book" panose="020B0503020102020204" pitchFamily="34" charset="0"/>
              </a:rPr>
              <a:t>Recall:</a:t>
            </a:r>
            <a:r>
              <a:rPr lang="en-IN" sz="2200" dirty="0">
                <a:latin typeface="Franklin Gothic Book" panose="020B0503020102020204" pitchFamily="34" charset="0"/>
              </a:rPr>
              <a:t> 0.88</a:t>
            </a:r>
          </a:p>
          <a:p>
            <a:r>
              <a:rPr lang="en-IN" sz="2200" b="1" dirty="0">
                <a:latin typeface="Franklin Gothic Book" panose="020B0503020102020204" pitchFamily="34" charset="0"/>
              </a:rPr>
              <a:t>F1-Score:</a:t>
            </a:r>
            <a:r>
              <a:rPr lang="en-IN" sz="2200" dirty="0">
                <a:latin typeface="Franklin Gothic Book" panose="020B0503020102020204" pitchFamily="34" charset="0"/>
              </a:rPr>
              <a:t> 0.88</a:t>
            </a:r>
          </a:p>
          <a:p>
            <a:r>
              <a:rPr lang="en-US" sz="2400" dirty="0">
                <a:latin typeface="Franklin Gothic Book" panose="020B0503020102020204" pitchFamily="34" charset="0"/>
              </a:rPr>
              <a:t>The model shows balanced performance across Low, Medium, and High stress categories.</a:t>
            </a:r>
            <a:endParaRPr lang="en-US" sz="2200" dirty="0">
              <a:latin typeface="Franklin Gothic Book" panose="020B0503020102020204" pitchFamily="34" charset="0"/>
            </a:endParaRPr>
          </a:p>
        </p:txBody>
      </p:sp>
    </p:spTree>
    <p:extLst>
      <p:ext uri="{BB962C8B-B14F-4D97-AF65-F5344CB8AC3E}">
        <p14:creationId xmlns:p14="http://schemas.microsoft.com/office/powerpoint/2010/main" val="58742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2B21B-3F2F-4B84-E1A7-8D8BB983EDC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F78D56A-999A-05F2-2DED-8AA5A55FD0E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p:pic>
      <p:pic>
        <p:nvPicPr>
          <p:cNvPr id="8" name="Picture 7">
            <a:extLst>
              <a:ext uri="{FF2B5EF4-FFF2-40B4-BE49-F238E27FC236}">
                <a16:creationId xmlns:a16="http://schemas.microsoft.com/office/drawing/2014/main" id="{7A0FC196-ADC1-E33D-9317-FC7AD7EA76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66" y="690881"/>
            <a:ext cx="5768502" cy="3061882"/>
          </a:xfrm>
          <a:prstGeom prst="rect">
            <a:avLst/>
          </a:prstGeom>
        </p:spPr>
      </p:pic>
      <p:pic>
        <p:nvPicPr>
          <p:cNvPr id="10" name="Picture 9">
            <a:extLst>
              <a:ext uri="{FF2B5EF4-FFF2-40B4-BE49-F238E27FC236}">
                <a16:creationId xmlns:a16="http://schemas.microsoft.com/office/drawing/2014/main" id="{68610680-29DF-F165-8157-89B1A86748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37762" y="3112652"/>
            <a:ext cx="6695872" cy="3531122"/>
          </a:xfrm>
          <a:prstGeom prst="rect">
            <a:avLst/>
          </a:prstGeom>
        </p:spPr>
      </p:pic>
    </p:spTree>
    <p:extLst>
      <p:ext uri="{BB962C8B-B14F-4D97-AF65-F5344CB8AC3E}">
        <p14:creationId xmlns:p14="http://schemas.microsoft.com/office/powerpoint/2010/main" val="791306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1546790" cy="4749226"/>
          </a:xfrm>
        </p:spPr>
        <p:txBody>
          <a:bodyPr vert="horz" lIns="91440" tIns="45720" rIns="91440" bIns="45720" rtlCol="0">
            <a:normAutofit/>
          </a:bodyPr>
          <a:lstStyle/>
          <a:p>
            <a:pPr marL="0" indent="0">
              <a:buNone/>
            </a:pPr>
            <a:r>
              <a:rPr lang="en-US" sz="2200" dirty="0">
                <a:latin typeface="Franklin Gothic Book" panose="020B0503020102020204" pitchFamily="34" charset="0"/>
              </a:rPr>
              <a:t>The proposed </a:t>
            </a:r>
            <a:r>
              <a:rPr lang="en-US" sz="2200" b="1" dirty="0">
                <a:latin typeface="Franklin Gothic Book" panose="020B0503020102020204" pitchFamily="34" charset="0"/>
              </a:rPr>
              <a:t>Student Stress Prediction Dashboard</a:t>
            </a:r>
            <a:r>
              <a:rPr lang="en-US" sz="2200" dirty="0">
                <a:latin typeface="Franklin Gothic Book" panose="020B0503020102020204" pitchFamily="34" charset="0"/>
              </a:rPr>
              <a:t> successfully applies Machine Learning techniques to analyze academic and lifestyle factors influencing student stress levels. The Random Forest classifier achieved high prediction accuracy (approximately 85–90%), demonstrating reliable performance in classifying stress into Low, Medium, and High categories</a:t>
            </a:r>
            <a:r>
              <a:rPr lang="en-IN" sz="2200" dirty="0">
                <a:latin typeface="Franklin Gothic Book"/>
              </a:rPr>
              <a:t>.</a:t>
            </a:r>
          </a:p>
          <a:p>
            <a:pPr marL="0" indent="0">
              <a:buNone/>
            </a:pPr>
            <a:r>
              <a:rPr lang="en-US" sz="2200" dirty="0">
                <a:latin typeface="Franklin Gothic Book" panose="020B0503020102020204" pitchFamily="34" charset="0"/>
              </a:rPr>
              <a:t>The system provides real-time predictions with visual insights, making it practical and user-friendly. Key factors such as sleep hours and study patterns significantly influence stress levels.</a:t>
            </a:r>
          </a:p>
          <a:p>
            <a:pPr marL="0" indent="0">
              <a:buNone/>
            </a:pPr>
            <a:r>
              <a:rPr lang="en-US" sz="2200" dirty="0">
                <a:latin typeface="Franklin Gothic Book" panose="020B0503020102020204" pitchFamily="34" charset="0"/>
              </a:rPr>
              <a:t>Despite challenges like dataset limitations and model tuning, the solution proves to be reliable and scalable. Accurate stress prediction plays a vital role in promoting student well-being and enabling early intervention.</a:t>
            </a:r>
          </a:p>
        </p:txBody>
      </p:sp>
    </p:spTree>
    <p:extLst>
      <p:ext uri="{BB962C8B-B14F-4D97-AF65-F5344CB8AC3E}">
        <p14:creationId xmlns:p14="http://schemas.microsoft.com/office/powerpoint/2010/main" val="2245309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3"/>
            <a:ext cx="11589946" cy="5252009"/>
          </a:xfrm>
        </p:spPr>
        <p:txBody>
          <a:bodyPr vert="horz" lIns="91440" tIns="45720" rIns="91440" bIns="45720" rtlCol="0">
            <a:normAutofit/>
          </a:bodyPr>
          <a:lstStyle/>
          <a:p>
            <a:pPr marL="0" indent="0">
              <a:spcBef>
                <a:spcPct val="20000"/>
              </a:spcBef>
              <a:spcAft>
                <a:spcPts val="600"/>
              </a:spcAft>
              <a:buNone/>
            </a:pPr>
            <a:endParaRPr lang="en-US" sz="2200" dirty="0">
              <a:latin typeface="Franklin Gothic Book"/>
            </a:endParaRPr>
          </a:p>
          <a:p>
            <a:pPr marL="0" indent="0">
              <a:spcBef>
                <a:spcPct val="20000"/>
              </a:spcBef>
              <a:spcAft>
                <a:spcPts val="600"/>
              </a:spcAft>
              <a:buNone/>
            </a:pPr>
            <a:r>
              <a:rPr lang="en-US" sz="2200" dirty="0">
                <a:latin typeface="Franklin Gothic Book" panose="020B0503020102020204" pitchFamily="34" charset="0"/>
              </a:rPr>
              <a:t>In the future, the system can be enhanced by integrating real-time institutional data and deploying it as a mobile or cloud-based application. Advanced AI models and wearable integrations can further improve prediction accuracy and provide personalized stress management support</a:t>
            </a:r>
            <a:r>
              <a:rPr lang="en-US" sz="2200" dirty="0">
                <a:latin typeface="Franklin Gothic Book"/>
              </a:rPr>
              <a:t>.</a:t>
            </a:r>
          </a:p>
          <a:p>
            <a:pPr>
              <a:spcBef>
                <a:spcPct val="20000"/>
              </a:spcBef>
              <a:spcAft>
                <a:spcPts val="600"/>
              </a:spcAft>
            </a:pPr>
            <a:r>
              <a:rPr lang="en-US" sz="2000" dirty="0">
                <a:latin typeface="Franklin Gothic Book" panose="020B0503020102020204" pitchFamily="34" charset="0"/>
              </a:rPr>
              <a:t>Integration with real-time institutional or university databases for improved accuracy.</a:t>
            </a:r>
          </a:p>
          <a:p>
            <a:pPr>
              <a:spcBef>
                <a:spcPct val="20000"/>
              </a:spcBef>
              <a:spcAft>
                <a:spcPts val="600"/>
              </a:spcAft>
            </a:pPr>
            <a:r>
              <a:rPr lang="en-US" sz="2000" dirty="0">
                <a:latin typeface="Franklin Gothic Book" panose="020B0503020102020204" pitchFamily="34" charset="0"/>
              </a:rPr>
              <a:t>Deployment as a mobile application for wider accessibility.</a:t>
            </a:r>
          </a:p>
          <a:p>
            <a:pPr>
              <a:spcBef>
                <a:spcPct val="20000"/>
              </a:spcBef>
              <a:spcAft>
                <a:spcPts val="600"/>
              </a:spcAft>
            </a:pPr>
            <a:r>
              <a:rPr lang="en-US" sz="2000" dirty="0">
                <a:latin typeface="Franklin Gothic Book" panose="020B0503020102020204" pitchFamily="34" charset="0"/>
              </a:rPr>
              <a:t>Integration of AI chatbot for personalized stress management support.</a:t>
            </a:r>
          </a:p>
          <a:p>
            <a:pPr>
              <a:spcBef>
                <a:spcPct val="20000"/>
              </a:spcBef>
              <a:spcAft>
                <a:spcPts val="600"/>
              </a:spcAft>
            </a:pPr>
            <a:r>
              <a:rPr lang="en-US" sz="2000" dirty="0">
                <a:latin typeface="Franklin Gothic Book" panose="020B0503020102020204" pitchFamily="34" charset="0"/>
              </a:rPr>
              <a:t>Implementation of deep learning models for enhanced prediction performance.</a:t>
            </a:r>
          </a:p>
          <a:p>
            <a:pPr>
              <a:spcBef>
                <a:spcPct val="20000"/>
              </a:spcBef>
              <a:spcAft>
                <a:spcPts val="600"/>
              </a:spcAft>
            </a:pPr>
            <a:r>
              <a:rPr lang="en-US" sz="2000" dirty="0">
                <a:latin typeface="Franklin Gothic Book" panose="020B0503020102020204" pitchFamily="34" charset="0"/>
              </a:rPr>
              <a:t>Continuous learning system that updates model with new student data.</a:t>
            </a:r>
          </a:p>
          <a:p>
            <a:pPr>
              <a:spcBef>
                <a:spcPct val="20000"/>
              </a:spcBef>
              <a:spcAft>
                <a:spcPts val="600"/>
              </a:spcAft>
            </a:pPr>
            <a:r>
              <a:rPr lang="en-US" sz="2000" dirty="0">
                <a:latin typeface="Franklin Gothic Book" panose="020B0503020102020204" pitchFamily="34" charset="0"/>
              </a:rPr>
              <a:t>Integration with wearable devices to monitor sleep and activity patterns.</a:t>
            </a:r>
          </a:p>
          <a:p>
            <a:pPr>
              <a:spcBef>
                <a:spcPct val="20000"/>
              </a:spcBef>
              <a:spcAft>
                <a:spcPts val="600"/>
              </a:spcAft>
            </a:pPr>
            <a:r>
              <a:rPr lang="en-US" sz="2000" dirty="0">
                <a:latin typeface="Franklin Gothic Book" panose="020B0503020102020204" pitchFamily="34" charset="0"/>
              </a:rPr>
              <a:t>Cloud deployment for scalability and multi-user access.</a:t>
            </a:r>
            <a:endParaRPr lang="en-GB" sz="2000" dirty="0">
              <a:latin typeface="Franklin Gothic Book" panose="020B0503020102020204" pitchFamily="34" charset="0"/>
            </a:endParaRPr>
          </a:p>
          <a:p>
            <a:pPr marL="0" indent="0">
              <a:buNone/>
            </a:pPr>
            <a:endParaRPr lang="en-GB" sz="2200" dirty="0"/>
          </a:p>
        </p:txBody>
      </p:sp>
    </p:spTree>
    <p:extLst>
      <p:ext uri="{BB962C8B-B14F-4D97-AF65-F5344CB8AC3E}">
        <p14:creationId xmlns:p14="http://schemas.microsoft.com/office/powerpoint/2010/main" val="3744199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284052"/>
            <a:ext cx="11700124" cy="5165386"/>
          </a:xfrm>
        </p:spPr>
        <p:txBody>
          <a:bodyPr vert="horz" lIns="91440" tIns="45720" rIns="91440" bIns="45720" rtlCol="0" anchor="t">
            <a:normAutofit fontScale="77500" lnSpcReduction="20000"/>
          </a:bodyPr>
          <a:lstStyle/>
          <a:p>
            <a:pPr marL="457200" indent="-457200">
              <a:buFont typeface="+mj-lt"/>
              <a:buAutoNum type="arabicPeriod"/>
            </a:pPr>
            <a:r>
              <a:rPr lang="en-US" sz="2600" b="1" dirty="0" err="1">
                <a:latin typeface="Franklin Gothic Book" panose="020B0503020102020204" pitchFamily="34" charset="0"/>
              </a:rPr>
              <a:t>Breiman</a:t>
            </a:r>
            <a:r>
              <a:rPr lang="en-US" sz="2600" b="1" dirty="0">
                <a:latin typeface="Franklin Gothic Book" panose="020B0503020102020204" pitchFamily="34" charset="0"/>
              </a:rPr>
              <a:t>, L.</a:t>
            </a:r>
            <a:r>
              <a:rPr lang="en-US" sz="2600" dirty="0">
                <a:latin typeface="Franklin Gothic Book" panose="020B0503020102020204" pitchFamily="34" charset="0"/>
              </a:rPr>
              <a:t> (2001). </a:t>
            </a:r>
            <a:r>
              <a:rPr lang="en-US" sz="2600" i="1" dirty="0">
                <a:latin typeface="Franklin Gothic Book" panose="020B0503020102020204" pitchFamily="34" charset="0"/>
              </a:rPr>
              <a:t>Random Forests</a:t>
            </a:r>
            <a:r>
              <a:rPr lang="en-US" sz="2600" dirty="0">
                <a:latin typeface="Franklin Gothic Book" panose="020B0503020102020204" pitchFamily="34" charset="0"/>
              </a:rPr>
              <a:t>. Machine Learning, 45(1), 5–32.</a:t>
            </a:r>
            <a:br>
              <a:rPr lang="en-US" sz="2600" dirty="0">
                <a:latin typeface="Franklin Gothic Book" panose="020B0503020102020204" pitchFamily="34" charset="0"/>
              </a:rPr>
            </a:br>
            <a:r>
              <a:rPr lang="en-US" sz="2600" dirty="0">
                <a:latin typeface="Franklin Gothic Book" panose="020B0503020102020204" pitchFamily="34" charset="0"/>
              </a:rPr>
              <a:t>— Foundational paper on Random Forest algorithm for classification and regression.</a:t>
            </a:r>
          </a:p>
          <a:p>
            <a:pPr marL="457200" indent="-457200">
              <a:buFont typeface="+mj-lt"/>
              <a:buAutoNum type="arabicPeriod"/>
            </a:pPr>
            <a:r>
              <a:rPr lang="en-US" sz="2600" b="1" dirty="0">
                <a:latin typeface="Franklin Gothic Book" panose="020B0503020102020204" pitchFamily="34" charset="0"/>
              </a:rPr>
              <a:t>Pedregosa, F., et al.</a:t>
            </a:r>
            <a:r>
              <a:rPr lang="en-US" sz="2600" dirty="0">
                <a:latin typeface="Franklin Gothic Book" panose="020B0503020102020204" pitchFamily="34" charset="0"/>
              </a:rPr>
              <a:t> (2011). </a:t>
            </a:r>
            <a:r>
              <a:rPr lang="en-US" sz="2600" i="1" dirty="0">
                <a:latin typeface="Franklin Gothic Book" panose="020B0503020102020204" pitchFamily="34" charset="0"/>
              </a:rPr>
              <a:t>Scikit-learn: Machine Learning in Python</a:t>
            </a:r>
            <a:r>
              <a:rPr lang="en-US" sz="2600" dirty="0">
                <a:latin typeface="Franklin Gothic Book" panose="020B0503020102020204" pitchFamily="34" charset="0"/>
              </a:rPr>
              <a:t>. Journal of Machine Learning Research, 12, 2825–2830.</a:t>
            </a:r>
            <a:br>
              <a:rPr lang="en-US" sz="2600" dirty="0">
                <a:latin typeface="Franklin Gothic Book" panose="020B0503020102020204" pitchFamily="34" charset="0"/>
              </a:rPr>
            </a:br>
            <a:r>
              <a:rPr lang="en-US" sz="2600" dirty="0">
                <a:latin typeface="Franklin Gothic Book" panose="020B0503020102020204" pitchFamily="34" charset="0"/>
              </a:rPr>
              <a:t>— Details the Python ML library used for model training and evaluation.</a:t>
            </a:r>
          </a:p>
          <a:p>
            <a:pPr marL="457200" indent="-457200">
              <a:buFont typeface="+mj-lt"/>
              <a:buAutoNum type="arabicPeriod"/>
            </a:pPr>
            <a:r>
              <a:rPr lang="en-US" sz="2600" b="1" dirty="0">
                <a:latin typeface="Franklin Gothic Book" panose="020B0503020102020204" pitchFamily="34" charset="0"/>
              </a:rPr>
              <a:t>Kuhn, M., &amp; Johnson, K.</a:t>
            </a:r>
            <a:r>
              <a:rPr lang="en-US" sz="2600" dirty="0">
                <a:latin typeface="Franklin Gothic Book" panose="020B0503020102020204" pitchFamily="34" charset="0"/>
              </a:rPr>
              <a:t> (2013). </a:t>
            </a:r>
            <a:r>
              <a:rPr lang="en-US" sz="2600" i="1" dirty="0">
                <a:latin typeface="Franklin Gothic Book" panose="020B0503020102020204" pitchFamily="34" charset="0"/>
              </a:rPr>
              <a:t>Applied Predictive Modeling</a:t>
            </a:r>
            <a:r>
              <a:rPr lang="en-US" sz="2600" dirty="0">
                <a:latin typeface="Franklin Gothic Book" panose="020B0503020102020204" pitchFamily="34" charset="0"/>
              </a:rPr>
              <a:t>. Springer.</a:t>
            </a:r>
            <a:br>
              <a:rPr lang="en-US" sz="2600" dirty="0">
                <a:latin typeface="Franklin Gothic Book" panose="020B0503020102020204" pitchFamily="34" charset="0"/>
              </a:rPr>
            </a:br>
            <a:r>
              <a:rPr lang="en-US" sz="2600" dirty="0">
                <a:latin typeface="Franklin Gothic Book" panose="020B0503020102020204" pitchFamily="34" charset="0"/>
              </a:rPr>
              <a:t>— Comprehensive resource on model training, preprocessing, feature engineering and evaluation.</a:t>
            </a:r>
          </a:p>
          <a:p>
            <a:pPr marL="457200" indent="-457200">
              <a:buFont typeface="+mj-lt"/>
              <a:buAutoNum type="arabicPeriod"/>
            </a:pPr>
            <a:r>
              <a:rPr lang="en-US" sz="2300" b="1" dirty="0">
                <a:latin typeface="Franklin Gothic Book" panose="020B0503020102020204" pitchFamily="34" charset="0"/>
              </a:rPr>
              <a:t>Zhao, Z., &amp; Zhang, H.</a:t>
            </a:r>
            <a:r>
              <a:rPr lang="en-US" sz="2300" dirty="0">
                <a:latin typeface="Franklin Gothic Book" panose="020B0503020102020204" pitchFamily="34" charset="0"/>
              </a:rPr>
              <a:t> (2020). </a:t>
            </a:r>
            <a:r>
              <a:rPr lang="en-US" sz="2300" i="1" dirty="0">
                <a:latin typeface="Franklin Gothic Book" panose="020B0503020102020204" pitchFamily="34" charset="0"/>
              </a:rPr>
              <a:t>A Machine Learning Approach to Predict Student Stress Levels</a:t>
            </a:r>
            <a:r>
              <a:rPr lang="en-US" sz="2300" dirty="0">
                <a:latin typeface="Franklin Gothic Book" panose="020B0503020102020204" pitchFamily="34" charset="0"/>
              </a:rPr>
              <a:t>. International Journal of Data Science.</a:t>
            </a:r>
            <a:br>
              <a:rPr lang="en-US" sz="2300" dirty="0">
                <a:latin typeface="Franklin Gothic Book" panose="020B0503020102020204" pitchFamily="34" charset="0"/>
              </a:rPr>
            </a:br>
            <a:r>
              <a:rPr lang="en-US" sz="2300" dirty="0">
                <a:latin typeface="Franklin Gothic Book" panose="020B0503020102020204" pitchFamily="34" charset="0"/>
              </a:rPr>
              <a:t>— Research study on factors influencing student stress and predictive modeling.</a:t>
            </a:r>
          </a:p>
          <a:p>
            <a:pPr marL="457200" indent="-457200">
              <a:buFont typeface="+mj-lt"/>
              <a:buAutoNum type="arabicPeriod"/>
            </a:pPr>
            <a:r>
              <a:rPr lang="en-US" sz="2300" b="1" dirty="0" err="1">
                <a:latin typeface="Franklin Gothic Book" panose="020B0503020102020204" pitchFamily="34" charset="0"/>
              </a:rPr>
              <a:t>Géron</a:t>
            </a:r>
            <a:r>
              <a:rPr lang="en-US" sz="2300" b="1" dirty="0">
                <a:latin typeface="Franklin Gothic Book" panose="020B0503020102020204" pitchFamily="34" charset="0"/>
              </a:rPr>
              <a:t>, A.</a:t>
            </a:r>
            <a:r>
              <a:rPr lang="en-US" sz="2300" dirty="0">
                <a:latin typeface="Franklin Gothic Book" panose="020B0503020102020204" pitchFamily="34" charset="0"/>
              </a:rPr>
              <a:t> (2019). </a:t>
            </a:r>
            <a:r>
              <a:rPr lang="en-US" sz="2300" i="1" dirty="0">
                <a:latin typeface="Franklin Gothic Book" panose="020B0503020102020204" pitchFamily="34" charset="0"/>
              </a:rPr>
              <a:t>Hands-On Machine Learning with Scikit-Learn, </a:t>
            </a:r>
            <a:r>
              <a:rPr lang="en-US" sz="2300" i="1" dirty="0" err="1">
                <a:latin typeface="Franklin Gothic Book" panose="020B0503020102020204" pitchFamily="34" charset="0"/>
              </a:rPr>
              <a:t>Keras</a:t>
            </a:r>
            <a:r>
              <a:rPr lang="en-US" sz="2300" i="1" dirty="0">
                <a:latin typeface="Franklin Gothic Book" panose="020B0503020102020204" pitchFamily="34" charset="0"/>
              </a:rPr>
              <a:t>, and TensorFlow</a:t>
            </a:r>
            <a:r>
              <a:rPr lang="en-US" sz="2300" dirty="0">
                <a:latin typeface="Franklin Gothic Book" panose="020B0503020102020204" pitchFamily="34" charset="0"/>
              </a:rPr>
              <a:t>. O’Reilly Media.</a:t>
            </a:r>
            <a:br>
              <a:rPr lang="en-US" sz="2300" dirty="0">
                <a:latin typeface="Franklin Gothic Book" panose="020B0503020102020204" pitchFamily="34" charset="0"/>
              </a:rPr>
            </a:br>
            <a:r>
              <a:rPr lang="en-US" sz="2300" dirty="0">
                <a:latin typeface="Franklin Gothic Book" panose="020B0503020102020204" pitchFamily="34" charset="0"/>
              </a:rPr>
              <a:t>— Practical guide to ML workflows, evaluation metrics, and model refinement.</a:t>
            </a:r>
          </a:p>
          <a:p>
            <a:pPr marL="457200" indent="-457200">
              <a:buFont typeface="+mj-lt"/>
              <a:buAutoNum type="arabicPeriod"/>
            </a:pPr>
            <a:r>
              <a:rPr lang="en-US" sz="2300" b="1" dirty="0">
                <a:latin typeface="Franklin Gothic Book" panose="020B0503020102020204" pitchFamily="34" charset="0"/>
              </a:rPr>
              <a:t>Molnar, C.</a:t>
            </a:r>
            <a:r>
              <a:rPr lang="en-US" sz="2300" dirty="0">
                <a:latin typeface="Franklin Gothic Book" panose="020B0503020102020204" pitchFamily="34" charset="0"/>
              </a:rPr>
              <a:t> (2019). </a:t>
            </a:r>
            <a:r>
              <a:rPr lang="en-US" sz="2300" i="1" dirty="0">
                <a:latin typeface="Franklin Gothic Book" panose="020B0503020102020204" pitchFamily="34" charset="0"/>
              </a:rPr>
              <a:t>Interpretable Machine Learning</a:t>
            </a:r>
            <a:r>
              <a:rPr lang="en-US" sz="2300" dirty="0">
                <a:latin typeface="Franklin Gothic Book" panose="020B0503020102020204" pitchFamily="34" charset="0"/>
              </a:rPr>
              <a:t>. </a:t>
            </a:r>
            <a:r>
              <a:rPr lang="en-US" sz="2300" dirty="0" err="1">
                <a:latin typeface="Franklin Gothic Book" panose="020B0503020102020204" pitchFamily="34" charset="0"/>
              </a:rPr>
              <a:t>Leanpub</a:t>
            </a:r>
            <a:r>
              <a:rPr lang="en-US" sz="2300" dirty="0">
                <a:latin typeface="Franklin Gothic Book" panose="020B0503020102020204" pitchFamily="34" charset="0"/>
              </a:rPr>
              <a:t>.</a:t>
            </a:r>
            <a:br>
              <a:rPr lang="en-US" sz="2300" dirty="0">
                <a:latin typeface="Franklin Gothic Book" panose="020B0503020102020204" pitchFamily="34" charset="0"/>
              </a:rPr>
            </a:br>
            <a:r>
              <a:rPr lang="en-US" sz="2300" dirty="0">
                <a:latin typeface="Franklin Gothic Book" panose="020B0503020102020204" pitchFamily="34" charset="0"/>
              </a:rPr>
              <a:t>— Techniques for feature importance and model interpretation.</a:t>
            </a:r>
          </a:p>
          <a:p>
            <a:pPr marL="457200" indent="-457200">
              <a:buFont typeface="+mj-lt"/>
              <a:buAutoNum type="arabicPeriod"/>
            </a:pPr>
            <a:r>
              <a:rPr lang="en-US" sz="2300" b="1" dirty="0" err="1">
                <a:latin typeface="Franklin Gothic Book" panose="020B0503020102020204" pitchFamily="34" charset="0"/>
              </a:rPr>
              <a:t>Streamlit</a:t>
            </a:r>
            <a:r>
              <a:rPr lang="en-US" sz="2300" b="1" dirty="0">
                <a:latin typeface="Franklin Gothic Book" panose="020B0503020102020204" pitchFamily="34" charset="0"/>
              </a:rPr>
              <a:t> Documentation</a:t>
            </a:r>
            <a:r>
              <a:rPr lang="en-US" sz="2300" dirty="0">
                <a:latin typeface="Franklin Gothic Book" panose="020B0503020102020204" pitchFamily="34" charset="0"/>
              </a:rPr>
              <a:t> — </a:t>
            </a:r>
            <a:r>
              <a:rPr lang="en-US" sz="2300" dirty="0">
                <a:latin typeface="Franklin Gothic Book" panose="020B0503020102020204" pitchFamily="34" charset="0"/>
                <a:hlinkClick r:id="rId2"/>
              </a:rPr>
              <a:t>https://docs.streamlit.io/</a:t>
            </a:r>
            <a:br>
              <a:rPr lang="en-US" sz="2300" dirty="0">
                <a:latin typeface="Franklin Gothic Book" panose="020B0503020102020204" pitchFamily="34" charset="0"/>
              </a:rPr>
            </a:br>
            <a:r>
              <a:rPr lang="en-US" sz="2300" dirty="0">
                <a:latin typeface="Franklin Gothic Book" panose="020B0503020102020204" pitchFamily="34" charset="0"/>
              </a:rPr>
              <a:t>— Official guide for building data-driven web dashboards in Python.</a:t>
            </a:r>
          </a:p>
          <a:p>
            <a:pPr marL="457200" indent="-457200">
              <a:buFont typeface="+mj-lt"/>
              <a:buAutoNum type="arabicPeriod"/>
            </a:pPr>
            <a:r>
              <a:rPr lang="en-US" sz="2300" b="1" dirty="0">
                <a:latin typeface="Franklin Gothic Book" panose="020B0503020102020204" pitchFamily="34" charset="0"/>
              </a:rPr>
              <a:t>Hastie, T., </a:t>
            </a:r>
            <a:r>
              <a:rPr lang="en-US" sz="2300" b="1" dirty="0" err="1">
                <a:latin typeface="Franklin Gothic Book" panose="020B0503020102020204" pitchFamily="34" charset="0"/>
              </a:rPr>
              <a:t>Tibshirani</a:t>
            </a:r>
            <a:r>
              <a:rPr lang="en-US" sz="2300" b="1" dirty="0">
                <a:latin typeface="Franklin Gothic Book" panose="020B0503020102020204" pitchFamily="34" charset="0"/>
              </a:rPr>
              <a:t>, R., &amp; Friedman, J.</a:t>
            </a:r>
            <a:r>
              <a:rPr lang="en-US" sz="2300" dirty="0">
                <a:latin typeface="Franklin Gothic Book" panose="020B0503020102020204" pitchFamily="34" charset="0"/>
              </a:rPr>
              <a:t> (2009). </a:t>
            </a:r>
            <a:r>
              <a:rPr lang="en-US" sz="2300" i="1" dirty="0">
                <a:latin typeface="Franklin Gothic Book" panose="020B0503020102020204" pitchFamily="34" charset="0"/>
              </a:rPr>
              <a:t>The Elements of Statistical Learning</a:t>
            </a:r>
            <a:r>
              <a:rPr lang="en-US" sz="2300" dirty="0">
                <a:latin typeface="Franklin Gothic Book" panose="020B0503020102020204" pitchFamily="34" charset="0"/>
              </a:rPr>
              <a:t>. Springer.</a:t>
            </a:r>
            <a:br>
              <a:rPr lang="en-US" sz="2300" dirty="0">
                <a:latin typeface="Franklin Gothic Book" panose="020B0503020102020204" pitchFamily="34" charset="0"/>
              </a:rPr>
            </a:br>
            <a:r>
              <a:rPr lang="en-US" sz="2300" dirty="0">
                <a:latin typeface="Franklin Gothic Book" panose="020B0503020102020204" pitchFamily="34" charset="0"/>
              </a:rPr>
              <a:t>— Core concepts in classification, ensemble methods, and model assessment.</a:t>
            </a:r>
          </a:p>
          <a:p>
            <a:pPr marL="457200" indent="-457200">
              <a:buFont typeface="+mj-lt"/>
              <a:buAutoNum type="arabicPeriod"/>
            </a:pPr>
            <a:r>
              <a:rPr lang="en-IN" sz="2000" b="1" dirty="0">
                <a:latin typeface="Franklin Gothic Book" panose="020B0503020102020204" pitchFamily="34" charset="0"/>
              </a:rPr>
              <a:t>GitHub Link</a:t>
            </a:r>
            <a:r>
              <a:rPr lang="en-IN" sz="2200" dirty="0">
                <a:latin typeface="Franklin Gothic Book"/>
              </a:rPr>
              <a:t>:</a:t>
            </a:r>
            <a:r>
              <a:rPr lang="en-IN" sz="2200" dirty="0">
                <a:solidFill>
                  <a:srgbClr val="0070C0"/>
                </a:solidFill>
                <a:latin typeface="Franklin Gothic Book"/>
              </a:rPr>
              <a:t> </a:t>
            </a:r>
            <a:r>
              <a:rPr lang="en-IN" sz="2200" u="sng" dirty="0">
                <a:solidFill>
                  <a:srgbClr val="0070C0"/>
                </a:solidFill>
                <a:latin typeface="Franklin Gothic Book"/>
              </a:rPr>
              <a:t>https://github.com/sohamtripathi60-code/MS_ELEVATE_AICTE</a:t>
            </a:r>
          </a:p>
          <a:p>
            <a:pPr marL="0" indent="0">
              <a:buNone/>
            </a:pPr>
            <a:endParaRPr lang="en-IN" sz="2200" u="sng" dirty="0">
              <a:solidFill>
                <a:srgbClr val="0070C0"/>
              </a:solidFill>
              <a:latin typeface="Franklin Gothic Book"/>
            </a:endParaRPr>
          </a:p>
          <a:p>
            <a:pPr marL="0" indent="0">
              <a:buNone/>
            </a:pPr>
            <a:endParaRPr lang="en-IN" sz="2200" dirty="0">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353</TotalTime>
  <Words>1340</Words>
  <Application>Microsoft Office PowerPoint</Application>
  <PresentationFormat>Widescreen</PresentationFormat>
  <Paragraphs>106</Paragraphs>
  <Slides>13</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13</vt:i4>
      </vt:variant>
    </vt:vector>
  </HeadingPairs>
  <TitlesOfParts>
    <vt:vector size="19"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PowerPoint Presentation</vt:lpstr>
      <vt:lpstr>Algorithm &amp; Deployment:</vt:lpstr>
      <vt:lpstr>Result:</vt:lpstr>
      <vt:lpstr>PowerPoint Presentation</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Soham Tripathi</cp:lastModifiedBy>
  <cp:revision>102</cp:revision>
  <dcterms:created xsi:type="dcterms:W3CDTF">2024-05-21T11:55:07Z</dcterms:created>
  <dcterms:modified xsi:type="dcterms:W3CDTF">2026-02-22T08:53:12Z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